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01" y="39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824"/>
            <a:ext cx="12191695" cy="6858000"/>
          </a:xfrm>
          <a:prstGeom prst="rect">
            <a:avLst/>
          </a:prstGeom>
          <a:solidFill>
            <a:srgbClr val="0F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685800"/>
            <a:ext cx="54864" cy="4937760"/>
          </a:xfrm>
          <a:prstGeom prst="rect">
            <a:avLst/>
          </a:prstGeom>
          <a:solidFill>
            <a:srgbClr val="00A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51560" y="914400"/>
            <a:ext cx="4216795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0ACC1"/>
                </a:solidFill>
              </a:rPr>
              <a:t>GRAPH AND WEB ANALYTICS -</a:t>
            </a:r>
            <a:r>
              <a:rPr sz="1800" b="1" dirty="0">
                <a:solidFill>
                  <a:srgbClr val="00ACC1"/>
                </a:solidFill>
              </a:rPr>
              <a:t> 23DSB</a:t>
            </a:r>
            <a:r>
              <a:rPr lang="en-US" sz="1800" b="1" dirty="0">
                <a:solidFill>
                  <a:srgbClr val="00ACC1"/>
                </a:solidFill>
              </a:rPr>
              <a:t>3511</a:t>
            </a:r>
            <a:endParaRPr sz="1800" b="1" dirty="0">
              <a:solidFill>
                <a:srgbClr val="00ACC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51560" y="1874519"/>
            <a:ext cx="1024128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Aptos Display"/>
              </a:rPr>
              <a:t>CyberGraph:
Intelligent Web Threat Analytics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773607"/>
            <a:ext cx="6394956" cy="17620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FFFFFF"/>
                </a:solidFill>
              </a:defRPr>
            </a:pPr>
            <a:r>
              <a:rPr sz="2400" dirty="0"/>
              <a:t>Nikhit</a:t>
            </a:r>
            <a:r>
              <a:rPr lang="en-US" sz="2400" dirty="0"/>
              <a:t>h</a:t>
            </a:r>
            <a:r>
              <a:rPr sz="2400" dirty="0"/>
              <a:t>a Vedantam  </a:t>
            </a:r>
            <a:r>
              <a:rPr lang="en-US" sz="2400" dirty="0"/>
              <a:t>-</a:t>
            </a:r>
            <a:r>
              <a:rPr sz="2400" dirty="0"/>
              <a:t>  2320030075</a:t>
            </a:r>
          </a:p>
          <a:p>
            <a:pPr>
              <a:spcAft>
                <a:spcPts val="500"/>
              </a:spcAft>
              <a:defRPr sz="1150">
                <a:solidFill>
                  <a:srgbClr val="FFFFFF"/>
                </a:solidFill>
              </a:defRPr>
            </a:pPr>
            <a:r>
              <a:rPr sz="2400" dirty="0"/>
              <a:t>Nishitha Vedantam  </a:t>
            </a:r>
            <a:r>
              <a:rPr lang="en-US" sz="2400" dirty="0"/>
              <a:t>-</a:t>
            </a:r>
            <a:r>
              <a:rPr sz="2400" dirty="0"/>
              <a:t>  2320030076</a:t>
            </a:r>
          </a:p>
          <a:p>
            <a:pPr>
              <a:spcAft>
                <a:spcPts val="500"/>
              </a:spcAft>
              <a:defRPr sz="1150">
                <a:solidFill>
                  <a:srgbClr val="FFFFFF"/>
                </a:solidFill>
              </a:defRPr>
            </a:pPr>
            <a:r>
              <a:rPr sz="2400" dirty="0"/>
              <a:t>Geetha Ganta  </a:t>
            </a:r>
            <a:r>
              <a:rPr lang="en-US" sz="2400" dirty="0"/>
              <a:t>          - </a:t>
            </a:r>
            <a:r>
              <a:rPr sz="2400" dirty="0"/>
              <a:t> 2320030487</a:t>
            </a:r>
          </a:p>
          <a:p>
            <a:pPr>
              <a:spcAft>
                <a:spcPts val="500"/>
              </a:spcAft>
              <a:defRPr sz="1150">
                <a:solidFill>
                  <a:srgbClr val="FFFFFF"/>
                </a:solidFill>
              </a:defRPr>
            </a:pPr>
            <a:endParaRPr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F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99669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ptos Display"/>
              </a:rPr>
              <a:t>The Problem: Why Web Threat Detection Needs Graph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146304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00ACC1"/>
                </a:solidFill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960120"/>
            <a:ext cx="6400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E2D3C"/>
                </a:solidFill>
                <a:latin typeface="Aptos"/>
              </a:defRPr>
            </a:pPr>
            <a:r>
              <a:t>Web servers generate large numbers of requests, and attacks can look harmless when each IP is examined alone.</a:t>
            </a:r>
          </a:p>
          <a:p>
            <a:pPr>
              <a:spcAft>
                <a:spcPts val="1000"/>
              </a:spcAft>
              <a:defRPr sz="1700">
                <a:solidFill>
                  <a:srgbClr val="1E2D3C"/>
                </a:solidFill>
                <a:latin typeface="Aptos"/>
              </a:defRPr>
            </a:pPr>
            <a:r>
              <a:t>Traditional per-IP thresholds can miss coordinated attacks such as a botnet where many IPs share the same target and request pattern.</a:t>
            </a:r>
          </a:p>
          <a:p>
            <a:pPr>
              <a:spcAft>
                <a:spcPts val="1000"/>
              </a:spcAft>
              <a:defRPr sz="1700">
                <a:solidFill>
                  <a:srgbClr val="1E2D3C"/>
                </a:solidFill>
                <a:latin typeface="Aptos"/>
              </a:defRPr>
            </a:pPr>
            <a:r>
              <a:t>CyberGraph models relationships between IPs, URLs and user-agents so that coordinated behaviour becomes visible.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0" y="1005840"/>
            <a:ext cx="2011680" cy="1325880"/>
          </a:xfrm>
          <a:prstGeom prst="roundRect">
            <a:avLst/>
          </a:prstGeom>
          <a:solidFill>
            <a:srgbClr val="F2F6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0" y="1005840"/>
            <a:ext cx="64008" cy="132588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98079" y="1133856"/>
            <a:ext cx="16916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F2034"/>
                </a:solidFill>
              </a:rPr>
              <a:t>High Volume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9" y="1536192"/>
            <a:ext cx="1691640" cy="704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1E2D3C"/>
                </a:solidFill>
              </a:rPr>
              <a:t>Many requests must be summarized into useful IP-level behaviour.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55480" y="1005840"/>
            <a:ext cx="2011680" cy="1325880"/>
          </a:xfrm>
          <a:prstGeom prst="roundRect">
            <a:avLst/>
          </a:prstGeom>
          <a:solidFill>
            <a:srgbClr val="F2F6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9555480" y="1005840"/>
            <a:ext cx="64008" cy="1325880"/>
          </a:xfrm>
          <a:prstGeom prst="rect">
            <a:avLst/>
          </a:prstGeom>
          <a:solidFill>
            <a:srgbClr val="00A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738359" y="1133856"/>
            <a:ext cx="16916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F2034"/>
                </a:solidFill>
              </a:rPr>
              <a:t>Coordination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38359" y="1536192"/>
            <a:ext cx="1691640" cy="704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1E2D3C"/>
                </a:solidFill>
              </a:rPr>
              <a:t>Many IPs may work together against one target.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0" y="2560320"/>
            <a:ext cx="2011680" cy="1325880"/>
          </a:xfrm>
          <a:prstGeom prst="roundRect">
            <a:avLst/>
          </a:prstGeom>
          <a:solidFill>
            <a:srgbClr val="F2F6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315200" y="2560320"/>
            <a:ext cx="64008" cy="1325880"/>
          </a:xfrm>
          <a:prstGeom prst="rect">
            <a:avLst/>
          </a:prstGeom>
          <a:solidFill>
            <a:srgbClr val="F09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498079" y="2688336"/>
            <a:ext cx="16916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F2034"/>
                </a:solidFill>
              </a:rPr>
              <a:t>Variety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79" y="3090672"/>
            <a:ext cx="1691640" cy="704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1E2D3C"/>
                </a:solidFill>
              </a:rPr>
              <a:t>Traffic includes normal users, crawlers and multiple attack types.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555480" y="2560320"/>
            <a:ext cx="2011680" cy="1325880"/>
          </a:xfrm>
          <a:prstGeom prst="roundRect">
            <a:avLst/>
          </a:prstGeom>
          <a:solidFill>
            <a:srgbClr val="F2F6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555480" y="2560320"/>
            <a:ext cx="64008" cy="1325880"/>
          </a:xfrm>
          <a:prstGeom prst="rect">
            <a:avLst/>
          </a:prstGeom>
          <a:solidFill>
            <a:srgbClr val="269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738359" y="2688336"/>
            <a:ext cx="16916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F2034"/>
                </a:solidFill>
              </a:rPr>
              <a:t>Hidden Links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38359" y="3090672"/>
            <a:ext cx="1691640" cy="704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1E2D3C"/>
                </a:solidFill>
              </a:rPr>
              <a:t>Shared URLs and user-agents reveal relationships.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4160520"/>
            <a:ext cx="10927080" cy="1325880"/>
          </a:xfrm>
          <a:prstGeom prst="roundRect">
            <a:avLst/>
          </a:prstGeom>
          <a:solidFill>
            <a:srgbClr val="F2F6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94360" y="4160520"/>
            <a:ext cx="64008" cy="1325880"/>
          </a:xfrm>
          <a:prstGeom prst="rect">
            <a:avLst/>
          </a:prstGeom>
          <a:solidFill>
            <a:srgbClr val="D2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77240" y="4288536"/>
            <a:ext cx="106070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F2034"/>
                </a:solidFill>
              </a:rPr>
              <a:t>Core Problem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4690872"/>
            <a:ext cx="10607040" cy="704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1E2D3C"/>
                </a:solidFill>
              </a:rPr>
              <a:t>Detect threats accurately while also identifying relationships that are invisible in isolated IP statistics.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5C6E7E"/>
                </a:solidFill>
              </a:rPr>
              <a:t>CyberGraph • Graph and Web Analytics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F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99669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ptos Display"/>
              </a:rPr>
              <a:t>Real-World Relevance &amp;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146304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00ACC1"/>
                </a:solidFill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960120"/>
            <a:ext cx="3429000" cy="1828800"/>
          </a:xfrm>
          <a:prstGeom prst="roundRect">
            <a:avLst/>
          </a:prstGeom>
          <a:solidFill>
            <a:srgbClr val="F2F6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94360" y="960120"/>
            <a:ext cx="64008" cy="18288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088136"/>
            <a:ext cx="31089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F2034"/>
                </a:solidFill>
              </a:rPr>
              <a:t>Security Monitoring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490472"/>
            <a:ext cx="3108960" cy="12070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1E2D3C"/>
                </a:solidFill>
              </a:rPr>
              <a:t>Security teams can inspect web-log behaviour at IP, URL and user-agent levels instead of relying only on single-IP thresholds.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960120"/>
            <a:ext cx="3429000" cy="1828800"/>
          </a:xfrm>
          <a:prstGeom prst="roundRect">
            <a:avLst/>
          </a:prstGeom>
          <a:solidFill>
            <a:srgbClr val="F2F6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70832" y="960120"/>
            <a:ext cx="64008" cy="1828800"/>
          </a:xfrm>
          <a:prstGeom prst="rect">
            <a:avLst/>
          </a:prstGeom>
          <a:solidFill>
            <a:srgbClr val="00A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53712" y="1088136"/>
            <a:ext cx="31089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F2034"/>
                </a:solidFill>
              </a:rPr>
              <a:t>Coordinated Attacks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3712" y="1490472"/>
            <a:ext cx="3108960" cy="12070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1E2D3C"/>
                </a:solidFill>
              </a:rPr>
              <a:t>The similarity graph groups IPs with near-identical URL-request profiles, helping expose coordinated botnet activity.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47304" y="960120"/>
            <a:ext cx="3429000" cy="1828800"/>
          </a:xfrm>
          <a:prstGeom prst="roundRect">
            <a:avLst/>
          </a:prstGeom>
          <a:solidFill>
            <a:srgbClr val="F2F6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147304" y="960120"/>
            <a:ext cx="64008" cy="1828800"/>
          </a:xfrm>
          <a:prstGeom prst="rect">
            <a:avLst/>
          </a:prstGeom>
          <a:solidFill>
            <a:srgbClr val="269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30183" y="1088136"/>
            <a:ext cx="31089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F2034"/>
                </a:solidFill>
              </a:rPr>
              <a:t>Explainable Detection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0183" y="1490472"/>
            <a:ext cx="3108960" cy="12070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1E2D3C"/>
                </a:solidFill>
              </a:rPr>
              <a:t>Rules use interpretable signals such as payloads, authentication failures, 404 storms, tool fingerprints and graph communities.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3063240"/>
            <a:ext cx="5303520" cy="1965960"/>
          </a:xfrm>
          <a:prstGeom prst="roundRect">
            <a:avLst/>
          </a:prstGeom>
          <a:solidFill>
            <a:srgbClr val="F2F6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94360" y="3063240"/>
            <a:ext cx="64008" cy="1965960"/>
          </a:xfrm>
          <a:prstGeom prst="rect">
            <a:avLst/>
          </a:prstGeom>
          <a:solidFill>
            <a:srgbClr val="F09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77240" y="3191256"/>
            <a:ext cx="49834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F2034"/>
                </a:solidFill>
              </a:rPr>
              <a:t>What the Project Produces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3593592"/>
            <a:ext cx="4983480" cy="1344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1E2D3C"/>
                </a:solidFill>
              </a:rPr>
              <a:t>• Threat type for each IP
• Risk score and anomaly score
• Targeted URL centrality
• Similarity and bipartite graph visualisations
• HTML report and interactive Streamlit dashboard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44768" y="3063240"/>
            <a:ext cx="5431536" cy="1965960"/>
          </a:xfrm>
          <a:prstGeom prst="roundRect">
            <a:avLst/>
          </a:prstGeom>
          <a:solidFill>
            <a:srgbClr val="F2F6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144768" y="3063240"/>
            <a:ext cx="64008" cy="196596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27648" y="3191256"/>
            <a:ext cx="5111496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F2034"/>
                </a:solidFill>
              </a:rPr>
              <a:t>Practical Extension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27648" y="3593592"/>
            <a:ext cx="5111496" cy="1344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1E2D3C"/>
                </a:solidFill>
              </a:rPr>
              <a:t>The pipeline accepts a CSV with timestamp, IP, method, URL, status and user-agent, with an optional label column for evaluation.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5C6E7E"/>
                </a:solidFill>
              </a:rPr>
              <a:t>CyberGraph • Graph and Web Analytics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F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99669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ptos Display"/>
              </a:rPr>
              <a:t>Project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146304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00ACC1"/>
                </a:solidFill>
              </a:rPr>
              <a:t>4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960120"/>
            <a:ext cx="594360" cy="594360"/>
          </a:xfrm>
          <a:prstGeom prst="ellipse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088136"/>
            <a:ext cx="594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17320" y="886968"/>
            <a:ext cx="9966960" cy="868680"/>
          </a:xfrm>
          <a:prstGeom prst="roundRect">
            <a:avLst/>
          </a:prstGeom>
          <a:solidFill>
            <a:srgbClr val="F2F6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417320" y="886968"/>
            <a:ext cx="64008" cy="86868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600200" y="1014984"/>
            <a:ext cx="9646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F2034"/>
                </a:solidFill>
              </a:rPr>
              <a:t>Build Graph Structures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1417320"/>
            <a:ext cx="9646920" cy="246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E2D3C"/>
                </a:solidFill>
              </a:rPr>
              <a:t>Convert web-server logs into IP–URL, IP–User-Agent and IP similarity graphs.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2240280"/>
            <a:ext cx="594360" cy="594360"/>
          </a:xfrm>
          <a:prstGeom prst="ellipse">
            <a:avLst/>
          </a:prstGeom>
          <a:solidFill>
            <a:srgbClr val="00A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2368296"/>
            <a:ext cx="594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417320" y="2167128"/>
            <a:ext cx="9966960" cy="868680"/>
          </a:xfrm>
          <a:prstGeom prst="roundRect">
            <a:avLst/>
          </a:prstGeom>
          <a:solidFill>
            <a:srgbClr val="F2F6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417320" y="2167128"/>
            <a:ext cx="64008" cy="868680"/>
          </a:xfrm>
          <a:prstGeom prst="rect">
            <a:avLst/>
          </a:prstGeom>
          <a:solidFill>
            <a:srgbClr val="00A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600200" y="2295144"/>
            <a:ext cx="9646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F2034"/>
                </a:solidFill>
              </a:rPr>
              <a:t>Apply Graph Analytics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2697480"/>
            <a:ext cx="9646920" cy="246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E2D3C"/>
                </a:solidFill>
              </a:rPr>
              <a:t>Use degree, PageRank, HITS, clustering, betweenness and Louvain communities.</a:t>
            </a:r>
          </a:p>
        </p:txBody>
      </p:sp>
      <p:sp>
        <p:nvSpPr>
          <p:cNvPr id="18" name="Oval 17"/>
          <p:cNvSpPr/>
          <p:nvPr/>
        </p:nvSpPr>
        <p:spPr>
          <a:xfrm>
            <a:off x="640080" y="3520439"/>
            <a:ext cx="594360" cy="594360"/>
          </a:xfrm>
          <a:prstGeom prst="ellipse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" y="3648456"/>
            <a:ext cx="594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417320" y="3447287"/>
            <a:ext cx="9966960" cy="868680"/>
          </a:xfrm>
          <a:prstGeom prst="roundRect">
            <a:avLst/>
          </a:prstGeom>
          <a:solidFill>
            <a:srgbClr val="F2F6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417320" y="3447287"/>
            <a:ext cx="64008" cy="86868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600200" y="3575303"/>
            <a:ext cx="9646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F2034"/>
                </a:solidFill>
              </a:rPr>
              <a:t>Detect Threats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00200" y="3977639"/>
            <a:ext cx="9646920" cy="246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E2D3C"/>
                </a:solidFill>
              </a:rPr>
              <a:t>Combine Isolation Forest anomaly detection with interpretable graph-aware rules.</a:t>
            </a:r>
          </a:p>
        </p:txBody>
      </p:sp>
      <p:sp>
        <p:nvSpPr>
          <p:cNvPr id="24" name="Oval 23"/>
          <p:cNvSpPr/>
          <p:nvPr/>
        </p:nvSpPr>
        <p:spPr>
          <a:xfrm>
            <a:off x="640080" y="4800599"/>
            <a:ext cx="594360" cy="594360"/>
          </a:xfrm>
          <a:prstGeom prst="ellipse">
            <a:avLst/>
          </a:prstGeom>
          <a:solidFill>
            <a:srgbClr val="00A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0080" y="4928615"/>
            <a:ext cx="594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417320" y="4727447"/>
            <a:ext cx="9966960" cy="868680"/>
          </a:xfrm>
          <a:prstGeom prst="roundRect">
            <a:avLst/>
          </a:prstGeom>
          <a:solidFill>
            <a:srgbClr val="F2F6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1417320" y="4727447"/>
            <a:ext cx="64008" cy="868680"/>
          </a:xfrm>
          <a:prstGeom prst="rect">
            <a:avLst/>
          </a:prstGeom>
          <a:solidFill>
            <a:srgbClr val="00A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600200" y="4855463"/>
            <a:ext cx="9646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F2034"/>
                </a:solidFill>
              </a:rPr>
              <a:t>Validate the Approach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00200" y="5257799"/>
            <a:ext cx="9646920" cy="246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E2D3C"/>
                </a:solidFill>
              </a:rPr>
              <a:t>Compare full graph-aware detection with models that remove graph information.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F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99669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ptos Display"/>
              </a:rPr>
              <a:t>Proposed Methodology &amp; 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146304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00ACC1"/>
                </a:solidFill>
              </a:rP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234440"/>
            <a:ext cx="1645920" cy="1234440"/>
          </a:xfrm>
          <a:prstGeom prst="roundRect">
            <a:avLst/>
          </a:prstGeom>
          <a:solidFill>
            <a:srgbClr val="F2F6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1234440"/>
            <a:ext cx="64008" cy="123444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362456"/>
            <a:ext cx="13258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F2034"/>
                </a:solidFill>
              </a:rPr>
              <a:t>01  Load Logs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764792"/>
            <a:ext cx="132588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10" name="Chevron 9"/>
          <p:cNvSpPr/>
          <p:nvPr/>
        </p:nvSpPr>
        <p:spPr>
          <a:xfrm>
            <a:off x="2130552" y="1627632"/>
            <a:ext cx="320040" cy="347472"/>
          </a:xfrm>
          <a:prstGeom prst="chevron">
            <a:avLst/>
          </a:prstGeom>
          <a:solidFill>
            <a:srgbClr val="5C6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2423160" y="1234440"/>
            <a:ext cx="1645920" cy="1234440"/>
          </a:xfrm>
          <a:prstGeom prst="roundRect">
            <a:avLst/>
          </a:prstGeom>
          <a:solidFill>
            <a:srgbClr val="F2F6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423160" y="1234440"/>
            <a:ext cx="64008" cy="1234440"/>
          </a:xfrm>
          <a:prstGeom prst="rect">
            <a:avLst/>
          </a:prstGeom>
          <a:solidFill>
            <a:srgbClr val="00A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606040" y="1362456"/>
            <a:ext cx="13258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F2034"/>
                </a:solidFill>
              </a:rPr>
              <a:t>02  Build Graphs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06040" y="1764792"/>
            <a:ext cx="132588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15" name="Chevron 14"/>
          <p:cNvSpPr/>
          <p:nvPr/>
        </p:nvSpPr>
        <p:spPr>
          <a:xfrm>
            <a:off x="4050792" y="1627632"/>
            <a:ext cx="320040" cy="347472"/>
          </a:xfrm>
          <a:prstGeom prst="chevron">
            <a:avLst/>
          </a:prstGeom>
          <a:solidFill>
            <a:srgbClr val="5C6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4343400" y="1234440"/>
            <a:ext cx="1645920" cy="1234440"/>
          </a:xfrm>
          <a:prstGeom prst="roundRect">
            <a:avLst/>
          </a:prstGeom>
          <a:solidFill>
            <a:srgbClr val="F2F6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343400" y="1234440"/>
            <a:ext cx="64008" cy="1234440"/>
          </a:xfrm>
          <a:prstGeom prst="rect">
            <a:avLst/>
          </a:prstGeom>
          <a:solidFill>
            <a:srgbClr val="269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26280" y="1362456"/>
            <a:ext cx="13258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 dirty="0">
                <a:solidFill>
                  <a:srgbClr val="0F2034"/>
                </a:solidFill>
              </a:rPr>
              <a:t>03  Engineer Features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1764792"/>
            <a:ext cx="132588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20" name="Chevron 19"/>
          <p:cNvSpPr/>
          <p:nvPr/>
        </p:nvSpPr>
        <p:spPr>
          <a:xfrm>
            <a:off x="5971032" y="1634456"/>
            <a:ext cx="320040" cy="347472"/>
          </a:xfrm>
          <a:prstGeom prst="chevron">
            <a:avLst/>
          </a:prstGeom>
          <a:solidFill>
            <a:srgbClr val="5C6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263640" y="1234440"/>
            <a:ext cx="1645920" cy="1234440"/>
          </a:xfrm>
          <a:prstGeom prst="roundRect">
            <a:avLst/>
          </a:prstGeom>
          <a:solidFill>
            <a:srgbClr val="F2F6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263640" y="1234440"/>
            <a:ext cx="64008" cy="1234440"/>
          </a:xfrm>
          <a:prstGeom prst="rect">
            <a:avLst/>
          </a:prstGeom>
          <a:solidFill>
            <a:srgbClr val="F09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46520" y="1362456"/>
            <a:ext cx="13258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F2034"/>
                </a:solidFill>
              </a:rPr>
              <a:t>04  Detect Threats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1764792"/>
            <a:ext cx="132588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25" name="Chevron 24"/>
          <p:cNvSpPr/>
          <p:nvPr/>
        </p:nvSpPr>
        <p:spPr>
          <a:xfrm>
            <a:off x="7891272" y="1627632"/>
            <a:ext cx="320040" cy="347472"/>
          </a:xfrm>
          <a:prstGeom prst="chevron">
            <a:avLst/>
          </a:prstGeom>
          <a:solidFill>
            <a:srgbClr val="5C6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8183880" y="1234440"/>
            <a:ext cx="1645920" cy="1234440"/>
          </a:xfrm>
          <a:prstGeom prst="roundRect">
            <a:avLst/>
          </a:prstGeom>
          <a:solidFill>
            <a:srgbClr val="F2F6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183880" y="1234440"/>
            <a:ext cx="64008" cy="1234440"/>
          </a:xfrm>
          <a:prstGeom prst="rect">
            <a:avLst/>
          </a:prstGeom>
          <a:solidFill>
            <a:srgbClr val="D2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366760" y="1362456"/>
            <a:ext cx="13258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F2034"/>
                </a:solidFill>
              </a:rPr>
              <a:t>05  Evaluate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66760" y="1764792"/>
            <a:ext cx="132588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30" name="Chevron 29"/>
          <p:cNvSpPr/>
          <p:nvPr/>
        </p:nvSpPr>
        <p:spPr>
          <a:xfrm>
            <a:off x="9811512" y="1627632"/>
            <a:ext cx="320040" cy="347472"/>
          </a:xfrm>
          <a:prstGeom prst="chevron">
            <a:avLst/>
          </a:prstGeom>
          <a:solidFill>
            <a:srgbClr val="5C6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10104120" y="1234440"/>
            <a:ext cx="1645920" cy="1234440"/>
          </a:xfrm>
          <a:prstGeom prst="roundRect">
            <a:avLst/>
          </a:prstGeom>
          <a:solidFill>
            <a:srgbClr val="F2F6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10104120" y="1234440"/>
            <a:ext cx="64008" cy="123444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0287000" y="1362456"/>
            <a:ext cx="13258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F2034"/>
                </a:solidFill>
              </a:rPr>
              <a:t>06  Visualise &amp; Report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287000" y="1764792"/>
            <a:ext cx="132588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594360" y="2971800"/>
            <a:ext cx="5257800" cy="1234440"/>
          </a:xfrm>
          <a:prstGeom prst="roundRect">
            <a:avLst/>
          </a:prstGeom>
          <a:solidFill>
            <a:srgbClr val="F2F6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94360" y="2971800"/>
            <a:ext cx="64008" cy="123444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77240" y="3099816"/>
            <a:ext cx="49377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F2034"/>
                </a:solidFill>
              </a:rPr>
              <a:t>Logs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" y="3502152"/>
            <a:ext cx="493776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1E2D3C"/>
                </a:solidFill>
              </a:rPr>
              <a:t>Synthetic web logs contain timestamp, IP, method, URL, status, user-agent and ground-truth label.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172200" y="2971800"/>
            <a:ext cx="5257800" cy="1234440"/>
          </a:xfrm>
          <a:prstGeom prst="roundRect">
            <a:avLst/>
          </a:prstGeom>
          <a:solidFill>
            <a:srgbClr val="F2F6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6172200" y="2971800"/>
            <a:ext cx="64008" cy="1234440"/>
          </a:xfrm>
          <a:prstGeom prst="rect">
            <a:avLst/>
          </a:prstGeom>
          <a:solidFill>
            <a:srgbClr val="00A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355080" y="3099816"/>
            <a:ext cx="49377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F2034"/>
                </a:solidFill>
              </a:rPr>
              <a:t>Graphs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55080" y="3502152"/>
            <a:ext cx="493776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1E2D3C"/>
                </a:solidFill>
              </a:rPr>
              <a:t>IP–URL bipartite graph, IP–User-Agent graph and IP similarity graph using cosine similarity ≥ 0.90.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94360" y="4480560"/>
            <a:ext cx="5257800" cy="1234440"/>
          </a:xfrm>
          <a:prstGeom prst="roundRect">
            <a:avLst/>
          </a:prstGeom>
          <a:solidFill>
            <a:srgbClr val="F2F6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594360" y="4480560"/>
            <a:ext cx="64008" cy="1234440"/>
          </a:xfrm>
          <a:prstGeom prst="rect">
            <a:avLst/>
          </a:prstGeom>
          <a:solidFill>
            <a:srgbClr val="269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77240" y="4608576"/>
            <a:ext cx="49377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F2034"/>
                </a:solidFill>
              </a:rPr>
              <a:t>Features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7240" y="5010912"/>
            <a:ext cx="493776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1E2D3C"/>
                </a:solidFill>
              </a:rPr>
              <a:t>13 behavioural + 9 graph features are computed for every IP.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172200" y="4480560"/>
            <a:ext cx="5257800" cy="1234440"/>
          </a:xfrm>
          <a:prstGeom prst="roundRect">
            <a:avLst/>
          </a:prstGeom>
          <a:solidFill>
            <a:srgbClr val="F2F6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6172200" y="4480560"/>
            <a:ext cx="64008" cy="1234440"/>
          </a:xfrm>
          <a:prstGeom prst="rect">
            <a:avLst/>
          </a:prstGeom>
          <a:solidFill>
            <a:srgbClr val="F09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355080" y="4608576"/>
            <a:ext cx="49377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F2034"/>
                </a:solidFill>
              </a:rPr>
              <a:t>Detection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55080" y="5010912"/>
            <a:ext cx="493776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1E2D3C"/>
                </a:solidFill>
              </a:rPr>
              <a:t>Isolation Forest + rule score → weighted risk score → predicted attack type.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5C6E7E"/>
                </a:solidFill>
              </a:rPr>
              <a:t>CyberGraph • Graph and Web Analytics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F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99669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ptos Display"/>
              </a:rPr>
              <a:t>Results &amp; 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146304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00ACC1"/>
                </a:solidFill>
              </a:rP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914400"/>
            <a:ext cx="2103120" cy="960120"/>
          </a:xfrm>
          <a:prstGeom prst="roundRect">
            <a:avLst/>
          </a:prstGeom>
          <a:solidFill>
            <a:srgbClr val="F2F6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67512" y="987552"/>
            <a:ext cx="195681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500" b="1">
                <a:solidFill>
                  <a:srgbClr val="1976D2"/>
                </a:solidFill>
              </a:rPr>
              <a:t>8,793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1481328"/>
            <a:ext cx="195681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>
                <a:solidFill>
                  <a:srgbClr val="5C6E7E"/>
                </a:solidFill>
              </a:rPr>
              <a:t>requests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34640" y="914400"/>
            <a:ext cx="2103120" cy="960120"/>
          </a:xfrm>
          <a:prstGeom prst="roundRect">
            <a:avLst/>
          </a:prstGeom>
          <a:solidFill>
            <a:srgbClr val="F2F6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907792" y="987552"/>
            <a:ext cx="195681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500" b="1">
                <a:solidFill>
                  <a:srgbClr val="1976D2"/>
                </a:solidFill>
              </a:rPr>
              <a:t>360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07792" y="1481328"/>
            <a:ext cx="195681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>
                <a:solidFill>
                  <a:srgbClr val="5C6E7E"/>
                </a:solidFill>
              </a:rPr>
              <a:t>unique IPs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74920" y="914400"/>
            <a:ext cx="2103120" cy="960120"/>
          </a:xfrm>
          <a:prstGeom prst="roundRect">
            <a:avLst/>
          </a:prstGeom>
          <a:solidFill>
            <a:srgbClr val="F2F6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148072" y="987552"/>
            <a:ext cx="195681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500" b="1">
                <a:solidFill>
                  <a:srgbClr val="1976D2"/>
                </a:solidFill>
              </a:rPr>
              <a:t>3,281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48072" y="1481328"/>
            <a:ext cx="195681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>
                <a:solidFill>
                  <a:srgbClr val="5C6E7E"/>
                </a:solidFill>
              </a:rPr>
              <a:t>IP–URL edges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0" y="914400"/>
            <a:ext cx="2103120" cy="960120"/>
          </a:xfrm>
          <a:prstGeom prst="roundRect">
            <a:avLst/>
          </a:prstGeom>
          <a:solidFill>
            <a:srgbClr val="F2F6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88352" y="987552"/>
            <a:ext cx="195681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500" b="1">
                <a:solidFill>
                  <a:srgbClr val="D24646"/>
                </a:solidFill>
              </a:rPr>
              <a:t>56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88352" y="1481328"/>
            <a:ext cx="195681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>
                <a:solidFill>
                  <a:srgbClr val="5C6E7E"/>
                </a:solidFill>
              </a:rPr>
              <a:t>malicious IPs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555480" y="914400"/>
            <a:ext cx="2103120" cy="960120"/>
          </a:xfrm>
          <a:prstGeom prst="roundRect">
            <a:avLst/>
          </a:prstGeom>
          <a:solidFill>
            <a:srgbClr val="F2F6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628632" y="987552"/>
            <a:ext cx="195681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500" b="1">
                <a:solidFill>
                  <a:srgbClr val="269678"/>
                </a:solidFill>
              </a:rPr>
              <a:t>1.000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28632" y="1481328"/>
            <a:ext cx="195681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>
                <a:solidFill>
                  <a:srgbClr val="5C6E7E"/>
                </a:solidFill>
              </a:rPr>
              <a:t>Full-model F1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594360" y="2240280"/>
          <a:ext cx="6574536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63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04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04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704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721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>
                    <a:solidFill>
                      <a:srgbClr val="0F20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Precision</a:t>
                      </a:r>
                    </a:p>
                  </a:txBody>
                  <a:tcPr>
                    <a:solidFill>
                      <a:srgbClr val="0F20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Recall</a:t>
                      </a:r>
                    </a:p>
                  </a:txBody>
                  <a:tcPr>
                    <a:solidFill>
                      <a:srgbClr val="0F20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F1</a:t>
                      </a:r>
                    </a:p>
                  </a:txBody>
                  <a:tcPr>
                    <a:solidFill>
                      <a:srgbClr val="0F20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721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E2D3C"/>
                          </a:solidFill>
                        </a:rPr>
                        <a:t>Isolation Forest only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E2D3C"/>
                          </a:solidFill>
                        </a:rPr>
                        <a:t>0.852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E2D3C"/>
                          </a:solidFill>
                        </a:rPr>
                        <a:t>0.821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E2D3C"/>
                          </a:solidFill>
                        </a:rPr>
                        <a:t>0.836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721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E2D3C"/>
                          </a:solidFill>
                        </a:rPr>
                        <a:t>Rules without graph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E2D3C"/>
                          </a:solidFill>
                        </a:rPr>
                        <a:t>1.000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E2D3C"/>
                          </a:solidFill>
                        </a:rPr>
                        <a:t>0.286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E2D3C"/>
                          </a:solidFill>
                        </a:rPr>
                        <a:t>0.444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721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E2D3C"/>
                          </a:solidFill>
                        </a:rPr>
                        <a:t>Full graph-aware model</a:t>
                      </a:r>
                    </a:p>
                  </a:txBody>
                  <a:tcPr>
                    <a:solidFill>
                      <a:srgbClr val="E4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E2D3C"/>
                          </a:solidFill>
                        </a:rPr>
                        <a:t>1.000</a:t>
                      </a:r>
                    </a:p>
                  </a:txBody>
                  <a:tcPr>
                    <a:solidFill>
                      <a:srgbClr val="E4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E2D3C"/>
                          </a:solidFill>
                        </a:rPr>
                        <a:t>1.000</a:t>
                      </a:r>
                    </a:p>
                  </a:txBody>
                  <a:tcPr>
                    <a:solidFill>
                      <a:srgbClr val="E4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E2D3C"/>
                          </a:solidFill>
                        </a:rPr>
                        <a:t>1.000</a:t>
                      </a:r>
                    </a:p>
                  </a:txBody>
                  <a:tcPr>
                    <a:solidFill>
                      <a:srgbClr val="E4F5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22" name="Picture 21" descr="07_ab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0" y="2148840"/>
            <a:ext cx="4069080" cy="2423160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594360" y="4709160"/>
            <a:ext cx="11018520" cy="1143000"/>
          </a:xfrm>
          <a:prstGeom prst="roundRect">
            <a:avLst/>
          </a:prstGeom>
          <a:solidFill>
            <a:srgbClr val="F2F6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94360" y="4709160"/>
            <a:ext cx="64008" cy="1143000"/>
          </a:xfrm>
          <a:prstGeom prst="rect">
            <a:avLst/>
          </a:prstGeom>
          <a:solidFill>
            <a:srgbClr val="00A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77240" y="4837176"/>
            <a:ext cx="106984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F2034"/>
                </a:solidFill>
              </a:rPr>
              <a:t>Key Observation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5239512"/>
            <a:ext cx="1069848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1E2D3C"/>
                </a:solidFill>
              </a:rPr>
              <a:t>Without graph features, the DDoS botnet (40 of the 56 attackers) is missed. The graph-aware model identifies the coordinated group in the supplied synthetic dataset.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5C6E7E"/>
                </a:solidFill>
              </a:rPr>
              <a:t>CyberGraph • Graph and Web Analytics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F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99669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ptos Display"/>
              </a:rPr>
              <a:t>Technologies Used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146304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00ACC1"/>
                </a:solidFill>
              </a:rP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051560"/>
            <a:ext cx="3429000" cy="1600200"/>
          </a:xfrm>
          <a:prstGeom prst="roundRect">
            <a:avLst/>
          </a:prstGeom>
          <a:solidFill>
            <a:srgbClr val="F2F6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94360" y="1051560"/>
            <a:ext cx="64008" cy="16002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179576"/>
            <a:ext cx="31089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0F2034"/>
                </a:solidFill>
              </a:rPr>
              <a:t>Programming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581912"/>
            <a:ext cx="3108960" cy="9784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1E2D3C"/>
                </a:solidFill>
              </a:rPr>
              <a:t>Python 3.9+
Core implementation and data processing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051560"/>
            <a:ext cx="3429000" cy="1600200"/>
          </a:xfrm>
          <a:prstGeom prst="roundRect">
            <a:avLst/>
          </a:prstGeom>
          <a:solidFill>
            <a:srgbClr val="F2F6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120" y="1051560"/>
            <a:ext cx="64008" cy="1600200"/>
          </a:xfrm>
          <a:prstGeom prst="rect">
            <a:avLst/>
          </a:prstGeom>
          <a:solidFill>
            <a:srgbClr val="00A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0" y="1179576"/>
            <a:ext cx="31089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0F2034"/>
                </a:solidFill>
              </a:rPr>
              <a:t>Data Handling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1581912"/>
            <a:ext cx="3108960" cy="9784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1E2D3C"/>
                </a:solidFill>
              </a:rPr>
              <a:t>Pandas / NumPy
Log processing and feature preparation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80" y="1051560"/>
            <a:ext cx="3429000" cy="1600200"/>
          </a:xfrm>
          <a:prstGeom prst="roundRect">
            <a:avLst/>
          </a:prstGeom>
          <a:solidFill>
            <a:srgbClr val="F2F6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183880" y="1051560"/>
            <a:ext cx="64008" cy="1600200"/>
          </a:xfrm>
          <a:prstGeom prst="rect">
            <a:avLst/>
          </a:prstGeom>
          <a:solidFill>
            <a:srgbClr val="269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66760" y="1179576"/>
            <a:ext cx="31089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0F2034"/>
                </a:solidFill>
              </a:rPr>
              <a:t>Graph Analytics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1581912"/>
            <a:ext cx="3108960" cy="9784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1E2D3C"/>
                </a:solidFill>
              </a:rPr>
              <a:t>NetworkX
Graph construction, centrality, communities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3017520"/>
            <a:ext cx="3429000" cy="1600200"/>
          </a:xfrm>
          <a:prstGeom prst="roundRect">
            <a:avLst/>
          </a:prstGeom>
          <a:solidFill>
            <a:srgbClr val="F2F6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94360" y="3017520"/>
            <a:ext cx="64008" cy="1600200"/>
          </a:xfrm>
          <a:prstGeom prst="rect">
            <a:avLst/>
          </a:prstGeom>
          <a:solidFill>
            <a:srgbClr val="F09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77240" y="3145536"/>
            <a:ext cx="31089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0F2034"/>
                </a:solidFill>
              </a:rPr>
              <a:t>Machine Learning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3547872"/>
            <a:ext cx="3108960" cy="9784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1E2D3C"/>
                </a:solidFill>
              </a:rPr>
              <a:t>Scikit-learn
Isolation Forest, scaling, evaluation metrics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89120" y="3017520"/>
            <a:ext cx="3429000" cy="1600200"/>
          </a:xfrm>
          <a:prstGeom prst="roundRect">
            <a:avLst/>
          </a:prstGeom>
          <a:solidFill>
            <a:srgbClr val="F2F6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389120" y="3017520"/>
            <a:ext cx="64008" cy="1600200"/>
          </a:xfrm>
          <a:prstGeom prst="rect">
            <a:avLst/>
          </a:prstGeom>
          <a:solidFill>
            <a:srgbClr val="D2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72000" y="3145536"/>
            <a:ext cx="31089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0F2034"/>
                </a:solidFill>
              </a:rPr>
              <a:t>Visualisation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3547872"/>
            <a:ext cx="3108960" cy="9784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1E2D3C"/>
                </a:solidFill>
              </a:rPr>
              <a:t>Matplotlib
Graphs, confusion matrix, ablation and timelines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83880" y="3017520"/>
            <a:ext cx="3429000" cy="1600200"/>
          </a:xfrm>
          <a:prstGeom prst="roundRect">
            <a:avLst/>
          </a:prstGeom>
          <a:solidFill>
            <a:srgbClr val="F2F6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183880" y="3017520"/>
            <a:ext cx="64008" cy="1600200"/>
          </a:xfrm>
          <a:prstGeom prst="rect">
            <a:avLst/>
          </a:prstGeom>
          <a:solidFill>
            <a:srgbClr val="00A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366760" y="3145536"/>
            <a:ext cx="31089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0F2034"/>
                </a:solidFill>
              </a:rPr>
              <a:t>Dashboard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66760" y="3547872"/>
            <a:ext cx="3108960" cy="9784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1E2D3C"/>
                </a:solidFill>
              </a:rPr>
              <a:t>Streamlit
Interactive tabs, filters, upload and drill-down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4360" y="5074920"/>
            <a:ext cx="10972800" cy="822960"/>
          </a:xfrm>
          <a:prstGeom prst="roundRect">
            <a:avLst/>
          </a:prstGeom>
          <a:solidFill>
            <a:srgbClr val="F2F6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594360" y="5074920"/>
            <a:ext cx="64008" cy="82296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77240" y="5202936"/>
            <a:ext cx="106527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F2034"/>
                </a:solidFill>
              </a:rPr>
              <a:t>Input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5605272"/>
            <a:ext cx="10652760" cy="201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1E2D3C"/>
                </a:solidFill>
              </a:rPr>
              <a:t>Synthetic web logs by default; the application can also accept a user-provided CSV with the required log columns.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5C6E7E"/>
                </a:solidFill>
              </a:rPr>
              <a:t>CyberGraph • Graph and Web Analytics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F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99669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ptos Display"/>
              </a:rPr>
              <a:t>Project Timeline &amp; Development Stages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146304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00ACC1"/>
                </a:solidFill>
              </a:rPr>
              <a:t>8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1143000"/>
            <a:ext cx="45720" cy="658368"/>
          </a:xfrm>
          <a:prstGeom prst="rect">
            <a:avLst/>
          </a:prstGeom>
          <a:solidFill>
            <a:srgbClr val="00A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594360" y="914400"/>
            <a:ext cx="685800" cy="685800"/>
          </a:xfrm>
          <a:prstGeom prst="ellipse">
            <a:avLst/>
          </a:prstGeom>
          <a:solidFill>
            <a:srgbClr val="0F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078992"/>
            <a:ext cx="685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417320" y="841248"/>
            <a:ext cx="9921240" cy="749808"/>
          </a:xfrm>
          <a:prstGeom prst="roundRect">
            <a:avLst/>
          </a:prstGeom>
          <a:solidFill>
            <a:srgbClr val="F2F6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417320" y="841248"/>
            <a:ext cx="64008" cy="749808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600200" y="969264"/>
            <a:ext cx="96012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F2034"/>
                </a:solidFill>
              </a:rPr>
              <a:t>Data generation / loading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1371600"/>
            <a:ext cx="9601200" cy="1280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1E2D3C"/>
                </a:solidFill>
              </a:rPr>
              <a:t>Create or load web logs with ground-truth labels.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0120" y="2011680"/>
            <a:ext cx="45720" cy="658368"/>
          </a:xfrm>
          <a:prstGeom prst="rect">
            <a:avLst/>
          </a:prstGeom>
          <a:solidFill>
            <a:srgbClr val="00A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594360" y="1783080"/>
            <a:ext cx="685800" cy="685800"/>
          </a:xfrm>
          <a:prstGeom prst="ellipse">
            <a:avLst/>
          </a:prstGeom>
          <a:solidFill>
            <a:srgbClr val="0F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1947672"/>
            <a:ext cx="685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417320" y="1709928"/>
            <a:ext cx="9921240" cy="749808"/>
          </a:xfrm>
          <a:prstGeom prst="roundRect">
            <a:avLst/>
          </a:prstGeom>
          <a:solidFill>
            <a:srgbClr val="F2F6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417320" y="1709928"/>
            <a:ext cx="64008" cy="749808"/>
          </a:xfrm>
          <a:prstGeom prst="rect">
            <a:avLst/>
          </a:prstGeom>
          <a:solidFill>
            <a:srgbClr val="00A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600200" y="1837943"/>
            <a:ext cx="96012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F2034"/>
                </a:solidFill>
              </a:rPr>
              <a:t>Graph construction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2240279"/>
            <a:ext cx="9601200" cy="1280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1E2D3C"/>
                </a:solidFill>
              </a:rPr>
              <a:t>Build IP–URL, IP–User-Agent and similarity graphs.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60120" y="2880360"/>
            <a:ext cx="45720" cy="658368"/>
          </a:xfrm>
          <a:prstGeom prst="rect">
            <a:avLst/>
          </a:prstGeom>
          <a:solidFill>
            <a:srgbClr val="00A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594360" y="2651760"/>
            <a:ext cx="685800" cy="685800"/>
          </a:xfrm>
          <a:prstGeom prst="ellipse">
            <a:avLst/>
          </a:prstGeom>
          <a:solidFill>
            <a:srgbClr val="0F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94360" y="2816352"/>
            <a:ext cx="685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417320" y="2578608"/>
            <a:ext cx="9921240" cy="749808"/>
          </a:xfrm>
          <a:prstGeom prst="roundRect">
            <a:avLst/>
          </a:prstGeom>
          <a:solidFill>
            <a:srgbClr val="F2F6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1417320" y="2578608"/>
            <a:ext cx="64008" cy="749808"/>
          </a:xfrm>
          <a:prstGeom prst="rect">
            <a:avLst/>
          </a:prstGeom>
          <a:solidFill>
            <a:srgbClr val="269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600200" y="2706624"/>
            <a:ext cx="96012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F2034"/>
                </a:solidFill>
              </a:rPr>
              <a:t>Feature engineering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00200" y="3108960"/>
            <a:ext cx="9601200" cy="1280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1E2D3C"/>
                </a:solidFill>
              </a:rPr>
              <a:t>Calculate behavioural and graph features.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60120" y="3749039"/>
            <a:ext cx="45720" cy="658368"/>
          </a:xfrm>
          <a:prstGeom prst="rect">
            <a:avLst/>
          </a:prstGeom>
          <a:solidFill>
            <a:srgbClr val="00A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594360" y="3520439"/>
            <a:ext cx="685800" cy="685800"/>
          </a:xfrm>
          <a:prstGeom prst="ellipse">
            <a:avLst/>
          </a:prstGeom>
          <a:solidFill>
            <a:srgbClr val="0F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94360" y="3685031"/>
            <a:ext cx="685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417320" y="3447287"/>
            <a:ext cx="9921240" cy="749808"/>
          </a:xfrm>
          <a:prstGeom prst="roundRect">
            <a:avLst/>
          </a:prstGeom>
          <a:solidFill>
            <a:srgbClr val="F2F6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1417320" y="3447287"/>
            <a:ext cx="64008" cy="749808"/>
          </a:xfrm>
          <a:prstGeom prst="rect">
            <a:avLst/>
          </a:prstGeom>
          <a:solidFill>
            <a:srgbClr val="F09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600200" y="3575303"/>
            <a:ext cx="96012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F2034"/>
                </a:solidFill>
              </a:rPr>
              <a:t>Threat detection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00200" y="3977639"/>
            <a:ext cx="9601200" cy="1280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1E2D3C"/>
                </a:solidFill>
              </a:rPr>
              <a:t>Run Isolation Forest and graph-aware rules.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60120" y="4617720"/>
            <a:ext cx="45720" cy="658368"/>
          </a:xfrm>
          <a:prstGeom prst="rect">
            <a:avLst/>
          </a:prstGeom>
          <a:solidFill>
            <a:srgbClr val="00A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594360" y="4389120"/>
            <a:ext cx="685800" cy="685800"/>
          </a:xfrm>
          <a:prstGeom prst="ellipse">
            <a:avLst/>
          </a:prstGeom>
          <a:solidFill>
            <a:srgbClr val="0F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94360" y="4553712"/>
            <a:ext cx="685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417320" y="4315968"/>
            <a:ext cx="9921240" cy="749808"/>
          </a:xfrm>
          <a:prstGeom prst="roundRect">
            <a:avLst/>
          </a:prstGeom>
          <a:solidFill>
            <a:srgbClr val="F2F6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1417320" y="4315968"/>
            <a:ext cx="64008" cy="749808"/>
          </a:xfrm>
          <a:prstGeom prst="rect">
            <a:avLst/>
          </a:prstGeom>
          <a:solidFill>
            <a:srgbClr val="D2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600200" y="4443983"/>
            <a:ext cx="96012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F2034"/>
                </a:solidFill>
              </a:rPr>
              <a:t>Evaluation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600200" y="4846320"/>
            <a:ext cx="9601200" cy="1280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1E2D3C"/>
                </a:solidFill>
              </a:rPr>
              <a:t>Calculate precision, recall, F1 and confusion matrix; run ablation.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60120" y="5486400"/>
            <a:ext cx="45720" cy="658368"/>
          </a:xfrm>
          <a:prstGeom prst="rect">
            <a:avLst/>
          </a:prstGeom>
          <a:solidFill>
            <a:srgbClr val="00A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594360" y="5257800"/>
            <a:ext cx="685800" cy="685800"/>
          </a:xfrm>
          <a:prstGeom prst="ellipse">
            <a:avLst/>
          </a:prstGeom>
          <a:solidFill>
            <a:srgbClr val="0F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94360" y="5422392"/>
            <a:ext cx="685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417320" y="5184648"/>
            <a:ext cx="9921240" cy="749808"/>
          </a:xfrm>
          <a:prstGeom prst="roundRect">
            <a:avLst/>
          </a:prstGeom>
          <a:solidFill>
            <a:srgbClr val="F2F6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1417320" y="5184648"/>
            <a:ext cx="64008" cy="749808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1600200" y="5312664"/>
            <a:ext cx="96012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F2034"/>
                </a:solidFill>
              </a:rPr>
              <a:t>Outputs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600200" y="5715000"/>
            <a:ext cx="9601200" cy="1280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1E2D3C"/>
                </a:solidFill>
              </a:rPr>
              <a:t>Generate visualisations, CSV files, HTML report and Streamlit dashboard.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F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99669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ptos Display"/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146304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00ACC1"/>
                </a:solidFill>
              </a:rP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005840"/>
            <a:ext cx="3429000" cy="1828800"/>
          </a:xfrm>
          <a:prstGeom prst="roundRect">
            <a:avLst/>
          </a:prstGeom>
          <a:solidFill>
            <a:srgbClr val="F2F6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94360" y="1005840"/>
            <a:ext cx="64008" cy="18288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133856"/>
            <a:ext cx="31089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F2034"/>
                </a:solidFill>
              </a:rPr>
              <a:t>Scalable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536192"/>
            <a:ext cx="3108960" cy="12070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1E2D3C"/>
                </a:solidFill>
              </a:rPr>
              <a:t>The graph pipeline converts web logs into multiple graph views and IP-level features that can be reused on larger log collections.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005840"/>
            <a:ext cx="3429000" cy="1828800"/>
          </a:xfrm>
          <a:prstGeom prst="roundRect">
            <a:avLst/>
          </a:prstGeom>
          <a:solidFill>
            <a:srgbClr val="F2F6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70832" y="1005840"/>
            <a:ext cx="64008" cy="1828800"/>
          </a:xfrm>
          <a:prstGeom prst="rect">
            <a:avLst/>
          </a:prstGeom>
          <a:solidFill>
            <a:srgbClr val="00A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53712" y="1133856"/>
            <a:ext cx="31089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F2034"/>
                </a:solidFill>
              </a:rPr>
              <a:t>Graph-Aware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3712" y="1536192"/>
            <a:ext cx="3108960" cy="12070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1E2D3C"/>
                </a:solidFill>
              </a:rPr>
              <a:t>Community size and similarity relationships help expose coordinated DDoS activity that isolated IP rules can miss.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47304" y="1005840"/>
            <a:ext cx="3429000" cy="1828800"/>
          </a:xfrm>
          <a:prstGeom prst="roundRect">
            <a:avLst/>
          </a:prstGeom>
          <a:solidFill>
            <a:srgbClr val="F2F6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147304" y="1005840"/>
            <a:ext cx="64008" cy="1828800"/>
          </a:xfrm>
          <a:prstGeom prst="rect">
            <a:avLst/>
          </a:prstGeom>
          <a:solidFill>
            <a:srgbClr val="269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30183" y="1133856"/>
            <a:ext cx="31089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F2034"/>
                </a:solidFill>
              </a:rPr>
              <a:t>Explainable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0183" y="1536192"/>
            <a:ext cx="3108960" cy="12070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1E2D3C"/>
                </a:solidFill>
              </a:rPr>
              <a:t>Attack types are assigned with transparent rules, while the hybrid risk score combines anomaly and rule evidence.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3246120"/>
            <a:ext cx="10972800" cy="1600200"/>
          </a:xfrm>
          <a:prstGeom prst="roundRect">
            <a:avLst/>
          </a:prstGeom>
          <a:solidFill>
            <a:srgbClr val="F2F6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94360" y="3246120"/>
            <a:ext cx="64008" cy="1600200"/>
          </a:xfrm>
          <a:prstGeom prst="rect">
            <a:avLst/>
          </a:prstGeom>
          <a:solidFill>
            <a:srgbClr val="D2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77240" y="3374136"/>
            <a:ext cx="106527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F2034"/>
                </a:solidFill>
              </a:rPr>
              <a:t>Important Limitation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3776472"/>
            <a:ext cx="10652760" cy="9784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1E2D3C"/>
                </a:solidFill>
              </a:rPr>
              <a:t>The supplied project uses synthetic data, and its rule thresholds were tuned on that data. The perfect 1.000 full-model scores therefore should not be treated as expected real-world performance.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5074920"/>
            <a:ext cx="10972800" cy="822960"/>
          </a:xfrm>
          <a:prstGeom prst="roundRect">
            <a:avLst/>
          </a:prstGeom>
          <a:solidFill>
            <a:srgbClr val="F2F6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94360" y="5074920"/>
            <a:ext cx="64008" cy="822960"/>
          </a:xfrm>
          <a:prstGeom prst="rect">
            <a:avLst/>
          </a:prstGeom>
          <a:solidFill>
            <a:srgbClr val="F09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77240" y="5202936"/>
            <a:ext cx="106527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F2034"/>
                </a:solidFill>
              </a:rPr>
              <a:t>Future Work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605272"/>
            <a:ext cx="10652760" cy="201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1E2D3C"/>
                </a:solidFill>
              </a:rPr>
              <a:t>Temporal/dynamic graphs, Graph Neural Networks such as GraphSAGE, real web-log datasets, and streaming detection.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5C6E7E"/>
                </a:solidFill>
              </a:rPr>
              <a:t>CyberGraph • Graph and Web Analytics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96286" y="2718634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200" b="1" dirty="0">
                <a:solidFill>
                  <a:srgbClr val="FFFFFF"/>
                </a:solidFill>
                <a:latin typeface="Aptos Display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854</Words>
  <Application>Microsoft Office PowerPoint</Application>
  <PresentationFormat>Widescreen</PresentationFormat>
  <Paragraphs>147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V K GOPAL</dc:creator>
  <cp:keywords/>
  <dc:description>generated using python-pptx</dc:description>
  <cp:lastModifiedBy>V K GOPAL</cp:lastModifiedBy>
  <cp:revision>2</cp:revision>
  <dcterms:created xsi:type="dcterms:W3CDTF">2013-01-27T09:14:16Z</dcterms:created>
  <dcterms:modified xsi:type="dcterms:W3CDTF">2026-09-24T05:39:32Z</dcterms:modified>
  <cp:category/>
</cp:coreProperties>
</file>